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8288000" cy="10287000"/>
  <p:notesSz cx="6858000" cy="9144000"/>
  <p:embeddedFontLst>
    <p:embeddedFont>
      <p:font typeface="Heading Now 31-38 Bold" pitchFamily="2" charset="0"/>
      <p:regular r:id="rId34"/>
      <p:bold r:id="rId35"/>
    </p:embeddedFont>
    <p:embeddedFont>
      <p:font typeface="Heading Now 71-78" pitchFamily="2" charset="0"/>
      <p:regular r:id="rId36"/>
    </p:embeddedFont>
    <p:embeddedFont>
      <p:font typeface="Heading Now 71-78 Bold" pitchFamily="2" charset="0"/>
      <p:regular r:id="rId37"/>
      <p:bold r:id="rId38"/>
    </p:embeddedFont>
    <p:embeddedFont>
      <p:font typeface="Poppins" pitchFamily="2" charset="77"/>
      <p:regular r:id="rId39"/>
      <p:bold r:id="rId40"/>
    </p:embeddedFont>
    <p:embeddedFont>
      <p:font typeface="Segoe UI" panose="020B0502040204020203" pitchFamily="34" charset="0"/>
      <p:regular r:id="rId41"/>
      <p:bold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10" autoAdjust="0"/>
  </p:normalViewPr>
  <p:slideViewPr>
    <p:cSldViewPr>
      <p:cViewPr varScale="1">
        <p:scale>
          <a:sx n="77" d="100"/>
          <a:sy n="77" d="100"/>
        </p:scale>
        <p:origin x="46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79CA3E-CC13-A448-B369-630EE5FFC2BB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997F8D-223D-6B42-BCE4-43A90C341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40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97F8D-223D-6B42-BCE4-43A90C341CD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45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D5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35434">
            <a:off x="6387024" y="536151"/>
            <a:ext cx="14631364" cy="11503910"/>
          </a:xfrm>
          <a:custGeom>
            <a:avLst/>
            <a:gdLst/>
            <a:ahLst/>
            <a:cxnLst/>
            <a:rect l="l" t="t" r="r" b="b"/>
            <a:pathLst>
              <a:path w="14631364" h="11503910">
                <a:moveTo>
                  <a:pt x="0" y="0"/>
                </a:moveTo>
                <a:lnTo>
                  <a:pt x="14631363" y="0"/>
                </a:lnTo>
                <a:lnTo>
                  <a:pt x="14631363" y="11503910"/>
                </a:lnTo>
                <a:lnTo>
                  <a:pt x="0" y="115039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49266" y="1536608"/>
            <a:ext cx="7073928" cy="619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 dirty="0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PREDICTING EMOTION IN MUSIC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9266" y="7708808"/>
            <a:ext cx="4403928" cy="143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9"/>
              </a:lnSpc>
            </a:pPr>
            <a:r>
              <a:rPr lang="en-US" sz="505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SPOTIFY’S VALENCE AND AROUSAL MODEL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49266" y="412645"/>
            <a:ext cx="17236218" cy="312738"/>
            <a:chOff x="0" y="-19051"/>
            <a:chExt cx="22981624" cy="416984"/>
          </a:xfrm>
        </p:grpSpPr>
        <p:sp>
          <p:nvSpPr>
            <p:cNvPr id="6" name="TextBox 6"/>
            <p:cNvSpPr txBox="1"/>
            <p:nvPr/>
          </p:nvSpPr>
          <p:spPr>
            <a:xfrm>
              <a:off x="0" y="-19051"/>
              <a:ext cx="4170867" cy="341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00"/>
                </a:lnSpc>
              </a:pPr>
              <a:endParaRPr lang="en-US" sz="2000" dirty="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269388" y="-19050"/>
              <a:ext cx="3306857" cy="416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00"/>
                </a:lnSpc>
              </a:pPr>
              <a:r>
                <a:rPr lang="en-US" sz="2000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HRITHIK YADAV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674767" y="-19050"/>
              <a:ext cx="3306857" cy="416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00"/>
                </a:lnSpc>
              </a:pPr>
              <a:r>
                <a:rPr lang="en-US" sz="2000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RACHEL FARINAS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D5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57911" y="2018236"/>
            <a:ext cx="5981919" cy="1877399"/>
            <a:chOff x="0" y="0"/>
            <a:chExt cx="7975892" cy="25031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5362" cy="2125362"/>
            </a:xfrm>
            <a:custGeom>
              <a:avLst/>
              <a:gdLst/>
              <a:ahLst/>
              <a:cxnLst/>
              <a:rect l="l" t="t" r="r" b="b"/>
              <a:pathLst>
                <a:path w="2125362" h="2125362">
                  <a:moveTo>
                    <a:pt x="0" y="0"/>
                  </a:moveTo>
                  <a:lnTo>
                    <a:pt x="2125362" y="0"/>
                  </a:lnTo>
                  <a:lnTo>
                    <a:pt x="2125362" y="2125362"/>
                  </a:lnTo>
                  <a:lnTo>
                    <a:pt x="0" y="2125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63330" y="223549"/>
              <a:ext cx="5012562" cy="2279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Platform offers </a:t>
              </a:r>
              <a:r>
                <a:rPr lang="en-US" sz="2199" b="1">
                  <a:solidFill>
                    <a:srgbClr val="000000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100M tracks</a:t>
              </a:r>
              <a:r>
                <a:rPr lang="en-US" sz="21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, </a:t>
              </a:r>
              <a:r>
                <a:rPr lang="en-US" sz="2199" b="1">
                  <a:solidFill>
                    <a:srgbClr val="000000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7M podcast titles</a:t>
              </a:r>
              <a:r>
                <a:rPr lang="en-US" sz="21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, and </a:t>
              </a:r>
              <a:r>
                <a:rPr lang="en-US" sz="2199" b="1">
                  <a:solidFill>
                    <a:srgbClr val="000000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500K audiobooks</a:t>
              </a:r>
              <a:r>
                <a:rPr lang="en-US" sz="21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globally</a:t>
              </a:r>
            </a:p>
            <a:p>
              <a:pPr algn="l">
                <a:lnSpc>
                  <a:spcPts val="2639"/>
                </a:lnSpc>
              </a:pPr>
              <a:endParaRPr lang="en-US" sz="21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673839" y="4580444"/>
            <a:ext cx="5867172" cy="1098813"/>
            <a:chOff x="0" y="0"/>
            <a:chExt cx="7822896" cy="14650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16222" cy="1465084"/>
            </a:xfrm>
            <a:custGeom>
              <a:avLst/>
              <a:gdLst/>
              <a:ahLst/>
              <a:cxnLst/>
              <a:rect l="l" t="t" r="r" b="b"/>
              <a:pathLst>
                <a:path w="2616222" h="1465084">
                  <a:moveTo>
                    <a:pt x="0" y="0"/>
                  </a:moveTo>
                  <a:lnTo>
                    <a:pt x="2616222" y="0"/>
                  </a:lnTo>
                  <a:lnTo>
                    <a:pt x="2616222" y="1465084"/>
                  </a:lnTo>
                  <a:lnTo>
                    <a:pt x="0" y="1465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208760" y="65792"/>
              <a:ext cx="4614135" cy="1390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Revenue grew from $16.96B in 2024 to </a:t>
              </a:r>
              <a:r>
                <a:rPr lang="en-US" sz="2199" b="1">
                  <a:solidFill>
                    <a:srgbClr val="000000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$19.44B</a:t>
              </a:r>
              <a:r>
                <a:rPr lang="en-US" sz="21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by early 2026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0855600" y="6647444"/>
            <a:ext cx="1598644" cy="1598644"/>
          </a:xfrm>
          <a:custGeom>
            <a:avLst/>
            <a:gdLst/>
            <a:ahLst/>
            <a:cxnLst/>
            <a:rect l="l" t="t" r="r" b="b"/>
            <a:pathLst>
              <a:path w="1598644" h="1598644">
                <a:moveTo>
                  <a:pt x="0" y="0"/>
                </a:moveTo>
                <a:lnTo>
                  <a:pt x="1598644" y="0"/>
                </a:lnTo>
                <a:lnTo>
                  <a:pt x="1598644" y="1598644"/>
                </a:lnTo>
                <a:lnTo>
                  <a:pt x="0" y="1598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3080409" y="6889553"/>
            <a:ext cx="3460601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Spotify has a presence in </a:t>
            </a:r>
            <a:r>
              <a:rPr lang="en-US" sz="21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184 markets</a:t>
            </a:r>
            <a:r>
              <a:rPr lang="en-US" sz="21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globally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06175" y="1160967"/>
            <a:ext cx="6502477" cy="428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THE SPOTIFY</a:t>
            </a:r>
          </a:p>
          <a:p>
            <a:pPr algn="l">
              <a:lnSpc>
                <a:spcPts val="15000"/>
              </a:lnSpc>
            </a:pPr>
            <a:r>
              <a:rPr lang="en-US" sz="15000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ECOSYSTEM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06175" y="5612582"/>
            <a:ext cx="6152458" cy="2800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Spotify has an </a:t>
            </a: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industry gold standard recommendation engine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that analyzes not just what you like, but why. This valuable feature contributes to its global success and wide-reaching presence.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6175" y="1160967"/>
            <a:ext cx="13626467" cy="238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HOW THE ENGINE WORKS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06175" y="3869455"/>
            <a:ext cx="6545739" cy="475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The Spotify recommendation engine utilizes a model called the </a:t>
            </a: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Circumplex Model of Affect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, which allows it to place a song on a 2D map. The song’s position on the map determines its mood, which the engine matches to your current activity and listening history.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13272169" y="2791686"/>
            <a:ext cx="0" cy="473229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721911" y="4705706"/>
            <a:ext cx="991608" cy="991608"/>
          </a:xfrm>
          <a:custGeom>
            <a:avLst/>
            <a:gdLst/>
            <a:ahLst/>
            <a:cxnLst/>
            <a:rect l="l" t="t" r="r" b="b"/>
            <a:pathLst>
              <a:path w="991608" h="991608">
                <a:moveTo>
                  <a:pt x="0" y="0"/>
                </a:moveTo>
                <a:lnTo>
                  <a:pt x="991608" y="0"/>
                </a:lnTo>
                <a:lnTo>
                  <a:pt x="991608" y="991609"/>
                </a:lnTo>
                <a:lnTo>
                  <a:pt x="0" y="9916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800032" y="4662682"/>
            <a:ext cx="1079787" cy="1034633"/>
          </a:xfrm>
          <a:custGeom>
            <a:avLst/>
            <a:gdLst/>
            <a:ahLst/>
            <a:cxnLst/>
            <a:rect l="l" t="t" r="r" b="b"/>
            <a:pathLst>
              <a:path w="1079787" h="1034633">
                <a:moveTo>
                  <a:pt x="0" y="0"/>
                </a:moveTo>
                <a:lnTo>
                  <a:pt x="1079787" y="0"/>
                </a:lnTo>
                <a:lnTo>
                  <a:pt x="1079787" y="1034633"/>
                </a:lnTo>
                <a:lnTo>
                  <a:pt x="0" y="10346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344849">
            <a:off x="13089833" y="592979"/>
            <a:ext cx="230760" cy="528966"/>
          </a:xfrm>
          <a:custGeom>
            <a:avLst/>
            <a:gdLst/>
            <a:ahLst/>
            <a:cxnLst/>
            <a:rect l="l" t="t" r="r" b="b"/>
            <a:pathLst>
              <a:path w="230760" h="528966">
                <a:moveTo>
                  <a:pt x="0" y="0"/>
                </a:moveTo>
                <a:lnTo>
                  <a:pt x="230761" y="0"/>
                </a:lnTo>
                <a:lnTo>
                  <a:pt x="230761" y="528965"/>
                </a:lnTo>
                <a:lnTo>
                  <a:pt x="0" y="5289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282870">
            <a:off x="13372812" y="607296"/>
            <a:ext cx="265620" cy="608874"/>
          </a:xfrm>
          <a:custGeom>
            <a:avLst/>
            <a:gdLst/>
            <a:ahLst/>
            <a:cxnLst/>
            <a:rect l="l" t="t" r="r" b="b"/>
            <a:pathLst>
              <a:path w="265620" h="608874">
                <a:moveTo>
                  <a:pt x="0" y="0"/>
                </a:moveTo>
                <a:lnTo>
                  <a:pt x="265620" y="0"/>
                </a:lnTo>
                <a:lnTo>
                  <a:pt x="265620" y="608874"/>
                </a:lnTo>
                <a:lnTo>
                  <a:pt x="0" y="6088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2193421">
            <a:off x="13660096" y="781581"/>
            <a:ext cx="275031" cy="630447"/>
          </a:xfrm>
          <a:custGeom>
            <a:avLst/>
            <a:gdLst/>
            <a:ahLst/>
            <a:cxnLst/>
            <a:rect l="l" t="t" r="r" b="b"/>
            <a:pathLst>
              <a:path w="275031" h="630447">
                <a:moveTo>
                  <a:pt x="0" y="0"/>
                </a:moveTo>
                <a:lnTo>
                  <a:pt x="275031" y="0"/>
                </a:lnTo>
                <a:lnTo>
                  <a:pt x="275031" y="630447"/>
                </a:lnTo>
                <a:lnTo>
                  <a:pt x="0" y="6304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3500213">
            <a:off x="12659351" y="388637"/>
            <a:ext cx="725068" cy="2056247"/>
          </a:xfrm>
          <a:custGeom>
            <a:avLst/>
            <a:gdLst/>
            <a:ahLst/>
            <a:cxnLst/>
            <a:rect l="l" t="t" r="r" b="b"/>
            <a:pathLst>
              <a:path w="725068" h="2056247">
                <a:moveTo>
                  <a:pt x="0" y="0"/>
                </a:moveTo>
                <a:lnTo>
                  <a:pt x="725068" y="0"/>
                </a:lnTo>
                <a:lnTo>
                  <a:pt x="725068" y="2056246"/>
                </a:lnTo>
                <a:lnTo>
                  <a:pt x="0" y="20562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2750444" y="7676385"/>
            <a:ext cx="1097702" cy="1357967"/>
            <a:chOff x="0" y="0"/>
            <a:chExt cx="1463602" cy="1810622"/>
          </a:xfrm>
        </p:grpSpPr>
        <p:sp>
          <p:nvSpPr>
            <p:cNvPr id="10" name="Freeform 10"/>
            <p:cNvSpPr/>
            <p:nvPr/>
          </p:nvSpPr>
          <p:spPr>
            <a:xfrm>
              <a:off x="0" y="675920"/>
              <a:ext cx="1463602" cy="1134703"/>
            </a:xfrm>
            <a:custGeom>
              <a:avLst/>
              <a:gdLst/>
              <a:ahLst/>
              <a:cxnLst/>
              <a:rect l="l" t="t" r="r" b="b"/>
              <a:pathLst>
                <a:path w="1463602" h="1134703">
                  <a:moveTo>
                    <a:pt x="0" y="0"/>
                  </a:moveTo>
                  <a:lnTo>
                    <a:pt x="1463602" y="0"/>
                  </a:lnTo>
                  <a:lnTo>
                    <a:pt x="1463602" y="1134702"/>
                  </a:lnTo>
                  <a:lnTo>
                    <a:pt x="0" y="1134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0282" y="380207"/>
              <a:ext cx="174935" cy="385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68"/>
                </a:lnSpc>
                <a:spcBef>
                  <a:spcPct val="0"/>
                </a:spcBef>
              </a:pPr>
              <a:r>
                <a:rPr lang="en-US" sz="1868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z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6566" y="91308"/>
              <a:ext cx="214708" cy="455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93"/>
                </a:lnSpc>
                <a:spcBef>
                  <a:spcPct val="0"/>
                </a:spcBef>
              </a:pPr>
              <a:r>
                <a:rPr lang="en-US" sz="2293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z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9561" y="0"/>
              <a:ext cx="214708" cy="455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93"/>
                </a:lnSpc>
                <a:spcBef>
                  <a:spcPct val="0"/>
                </a:spcBef>
              </a:pPr>
              <a:r>
                <a:rPr lang="en-US" sz="2293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z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913047" y="3121581"/>
            <a:ext cx="140544" cy="14054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182504" y="5657085"/>
            <a:ext cx="6545739" cy="397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The model operates on two main dimensions: </a:t>
            </a: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valence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(the x-axis) and </a:t>
            </a: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energy 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(the y-axis)</a:t>
            </a: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. 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Valence determines how pleasant/happy a song is, and energy determines the intensity. 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04</a:t>
            </a:r>
          </a:p>
        </p:txBody>
      </p:sp>
      <p:sp>
        <p:nvSpPr>
          <p:cNvPr id="19" name="AutoShape 19"/>
          <p:cNvSpPr/>
          <p:nvPr/>
        </p:nvSpPr>
        <p:spPr>
          <a:xfrm flipV="1">
            <a:off x="13272169" y="2791686"/>
            <a:ext cx="0" cy="471796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>
            <a:off x="10913838" y="5124450"/>
            <a:ext cx="471666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9309268" y="5908434"/>
            <a:ext cx="1816894" cy="341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Unpleasant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638647" y="5908434"/>
            <a:ext cx="1402556" cy="341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Pleasant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493301" y="2228101"/>
            <a:ext cx="1538387" cy="341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Activated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310095" y="9248775"/>
            <a:ext cx="1924149" cy="341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Deactivated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1913047" y="4592410"/>
            <a:ext cx="140544" cy="140544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310095" y="4662682"/>
            <a:ext cx="140544" cy="140544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848146" y="3262126"/>
            <a:ext cx="140544" cy="140544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212743" y="4059767"/>
            <a:ext cx="140544" cy="140544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988690" y="6250064"/>
            <a:ext cx="140544" cy="14054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826825" y="5297291"/>
            <a:ext cx="140544" cy="140544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555648" y="5556771"/>
            <a:ext cx="140544" cy="140544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1636166" y="5943467"/>
            <a:ext cx="140544" cy="140544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3848146" y="6450511"/>
            <a:ext cx="708720" cy="31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Calm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540382" y="6152061"/>
            <a:ext cx="1026418" cy="31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Gloomy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565246" y="3383620"/>
            <a:ext cx="990402" cy="31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Excited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4705909" y="3191853"/>
            <a:ext cx="140544" cy="140544"/>
            <a:chOff x="0" y="0"/>
            <a:chExt cx="812800" cy="812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1794294" y="3313348"/>
            <a:ext cx="813395" cy="31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Afraid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14058962" y="5297291"/>
            <a:ext cx="140544" cy="140544"/>
            <a:chOff x="0" y="0"/>
            <a:chExt cx="812800" cy="8128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4353288" y="5437835"/>
            <a:ext cx="140544" cy="140544"/>
            <a:chOff x="0" y="0"/>
            <a:chExt cx="812800" cy="8128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2182504" y="1653270"/>
            <a:ext cx="6545739" cy="4264689"/>
            <a:chOff x="0" y="0"/>
            <a:chExt cx="8727652" cy="5686252"/>
          </a:xfrm>
        </p:grpSpPr>
        <p:sp>
          <p:nvSpPr>
            <p:cNvPr id="63" name="TextBox 63"/>
            <p:cNvSpPr txBox="1"/>
            <p:nvPr/>
          </p:nvSpPr>
          <p:spPr>
            <a:xfrm>
              <a:off x="0" y="-9525"/>
              <a:ext cx="7207771" cy="10441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99"/>
                </a:lnSpc>
              </a:pPr>
              <a:r>
                <a:rPr lang="en-US" sz="2799" b="1">
                  <a:solidFill>
                    <a:srgbClr val="000000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THE CIRCUMPLEX MODEL OF AFFECT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1453977"/>
              <a:ext cx="8727652" cy="4232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This model behind the Spotify recommendation system treats emotions as coordinates on a continuous 2D map instead of as discrete buckets (e.g., "Sad," "Happy," "Angry"). </a:t>
              </a:r>
            </a:p>
            <a:p>
              <a:pPr algn="l">
                <a:lnSpc>
                  <a:spcPts val="3119"/>
                </a:lnSpc>
              </a:pPr>
              <a:endPara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  <a:p>
              <a:pPr algn="l">
                <a:lnSpc>
                  <a:spcPts val="3119"/>
                </a:lnSpc>
              </a:pPr>
              <a:endPara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D5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115279" y="1419022"/>
            <a:ext cx="5610793" cy="1932694"/>
            <a:chOff x="0" y="0"/>
            <a:chExt cx="7481058" cy="25769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03560" cy="2576926"/>
            </a:xfrm>
            <a:custGeom>
              <a:avLst/>
              <a:gdLst/>
              <a:ahLst/>
              <a:cxnLst/>
              <a:rect l="l" t="t" r="r" b="b"/>
              <a:pathLst>
                <a:path w="2003560" h="2576926">
                  <a:moveTo>
                    <a:pt x="0" y="0"/>
                  </a:moveTo>
                  <a:lnTo>
                    <a:pt x="2003560" y="0"/>
                  </a:lnTo>
                  <a:lnTo>
                    <a:pt x="2003560" y="2576926"/>
                  </a:lnTo>
                  <a:lnTo>
                    <a:pt x="0" y="2576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468496" y="83199"/>
              <a:ext cx="5012562" cy="2279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A high-energy track could be a </a:t>
              </a:r>
              <a:r>
                <a:rPr lang="en-US" sz="2199" b="1">
                  <a:solidFill>
                    <a:srgbClr val="000000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joyful dance anthem </a:t>
              </a:r>
              <a:r>
                <a:rPr lang="en-US" sz="21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(high valence) or </a:t>
              </a:r>
              <a:r>
                <a:rPr lang="en-US" sz="2199" b="1">
                  <a:solidFill>
                    <a:srgbClr val="000000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chaotic heavy metal</a:t>
              </a:r>
              <a:r>
                <a:rPr lang="en-US" sz="21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(low valence)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06175" y="1160967"/>
            <a:ext cx="6502477" cy="428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THE CHALLENGES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06175" y="5612582"/>
            <a:ext cx="6152458" cy="3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Music is inherently </a:t>
            </a: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multi-dimensional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with </a:t>
            </a: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non-linear feature relationships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requiring machine learning. Other factors like the need for sophisticated ML  and the subjectivity of emotion make it challenging to predict emotion in music.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05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115279" y="3892146"/>
            <a:ext cx="5724551" cy="1333500"/>
            <a:chOff x="0" y="0"/>
            <a:chExt cx="7632735" cy="1778000"/>
          </a:xfrm>
        </p:grpSpPr>
        <p:sp>
          <p:nvSpPr>
            <p:cNvPr id="9" name="Freeform 9"/>
            <p:cNvSpPr/>
            <p:nvPr/>
          </p:nvSpPr>
          <p:spPr>
            <a:xfrm>
              <a:off x="0" y="258026"/>
              <a:ext cx="2002614" cy="1261949"/>
            </a:xfrm>
            <a:custGeom>
              <a:avLst/>
              <a:gdLst/>
              <a:ahLst/>
              <a:cxnLst/>
              <a:rect l="l" t="t" r="r" b="b"/>
              <a:pathLst>
                <a:path w="2002614" h="1261949">
                  <a:moveTo>
                    <a:pt x="0" y="0"/>
                  </a:moveTo>
                  <a:lnTo>
                    <a:pt x="2002614" y="0"/>
                  </a:lnTo>
                  <a:lnTo>
                    <a:pt x="2002614" y="1261948"/>
                  </a:lnTo>
                  <a:lnTo>
                    <a:pt x="0" y="1261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20174" y="-57150"/>
              <a:ext cx="5012562" cy="1835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Relationship between audio features and emotion is often </a:t>
              </a:r>
              <a:r>
                <a:rPr lang="en-US" sz="2199" b="1">
                  <a:solidFill>
                    <a:srgbClr val="000000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non-linear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115279" y="5766075"/>
            <a:ext cx="5610793" cy="1449606"/>
            <a:chOff x="0" y="0"/>
            <a:chExt cx="7481058" cy="193280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32808" cy="1932808"/>
            </a:xfrm>
            <a:custGeom>
              <a:avLst/>
              <a:gdLst/>
              <a:ahLst/>
              <a:cxnLst/>
              <a:rect l="l" t="t" r="r" b="b"/>
              <a:pathLst>
                <a:path w="1932808" h="1932808">
                  <a:moveTo>
                    <a:pt x="0" y="0"/>
                  </a:moveTo>
                  <a:lnTo>
                    <a:pt x="1932808" y="0"/>
                  </a:lnTo>
                  <a:lnTo>
                    <a:pt x="1932808" y="1932808"/>
                  </a:lnTo>
                  <a:lnTo>
                    <a:pt x="0" y="1932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68496" y="242504"/>
              <a:ext cx="5012562" cy="1390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000000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Sophisticated ML</a:t>
              </a:r>
              <a:r>
                <a:rPr lang="en-US" sz="21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needed for high accuracy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115279" y="7756111"/>
            <a:ext cx="5610793" cy="1265986"/>
            <a:chOff x="0" y="0"/>
            <a:chExt cx="7481058" cy="1687982"/>
          </a:xfrm>
        </p:grpSpPr>
        <p:sp>
          <p:nvSpPr>
            <p:cNvPr id="15" name="TextBox 15"/>
            <p:cNvSpPr txBox="1"/>
            <p:nvPr/>
          </p:nvSpPr>
          <p:spPr>
            <a:xfrm>
              <a:off x="2468496" y="111230"/>
              <a:ext cx="5012562" cy="1390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Valence prediction is historically </a:t>
              </a:r>
              <a:r>
                <a:rPr lang="en-US" sz="2199" b="1">
                  <a:solidFill>
                    <a:srgbClr val="000000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more difficult</a:t>
              </a:r>
              <a:r>
                <a:rPr lang="en-US" sz="21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than arousal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1761651" cy="1687982"/>
            </a:xfrm>
            <a:custGeom>
              <a:avLst/>
              <a:gdLst/>
              <a:ahLst/>
              <a:cxnLst/>
              <a:rect l="l" t="t" r="r" b="b"/>
              <a:pathLst>
                <a:path w="1761651" h="1687982">
                  <a:moveTo>
                    <a:pt x="0" y="0"/>
                  </a:moveTo>
                  <a:lnTo>
                    <a:pt x="1761651" y="0"/>
                  </a:lnTo>
                  <a:lnTo>
                    <a:pt x="1761651" y="1687982"/>
                  </a:lnTo>
                  <a:lnTo>
                    <a:pt x="0" y="16879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6175" y="1160967"/>
            <a:ext cx="13626467" cy="238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RESEARCH QUESTIONS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06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06175" y="3859930"/>
            <a:ext cx="12650079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Can high-level audio features predict valence across diverse genres with machine learning models?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06175" y="5155330"/>
            <a:ext cx="12650079" cy="3876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To what extent can Spotify's high-level audio features accurately predict</a:t>
            </a: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 valence 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across diverse genres?</a:t>
            </a:r>
          </a:p>
          <a:p>
            <a:pPr algn="l">
              <a:lnSpc>
                <a:spcPts val="1800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Which specific audio characteristics like </a:t>
            </a: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danceability 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versus </a:t>
            </a: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energy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serve as strongest predictors for positive sentiment?</a:t>
            </a:r>
          </a:p>
          <a:p>
            <a:pPr algn="l">
              <a:lnSpc>
                <a:spcPts val="1800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How do non-linear models like</a:t>
            </a: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 KNN 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and </a:t>
            </a: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Trees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compare to linear regression?</a:t>
            </a:r>
          </a:p>
          <a:p>
            <a:pPr algn="l">
              <a:lnSpc>
                <a:spcPts val="1800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Can accessible ML models </a:t>
            </a: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outperform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industrial datasets at large scale?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33304" y="1684253"/>
            <a:ext cx="7425996" cy="4687660"/>
          </a:xfrm>
          <a:custGeom>
            <a:avLst/>
            <a:gdLst/>
            <a:ahLst/>
            <a:cxnLst/>
            <a:rect l="l" t="t" r="r" b="b"/>
            <a:pathLst>
              <a:path w="7425996" h="4687660">
                <a:moveTo>
                  <a:pt x="0" y="0"/>
                </a:moveTo>
                <a:lnTo>
                  <a:pt x="7425996" y="0"/>
                </a:lnTo>
                <a:lnTo>
                  <a:pt x="7425996" y="4687661"/>
                </a:lnTo>
                <a:lnTo>
                  <a:pt x="0" y="46876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206175" y="1160967"/>
            <a:ext cx="5881952" cy="428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STATE OF THE ART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07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182504" y="5602307"/>
            <a:ext cx="6545739" cy="3912264"/>
            <a:chOff x="0" y="0"/>
            <a:chExt cx="8727652" cy="5216352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7207771" cy="5742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99"/>
                </a:lnSpc>
              </a:pPr>
              <a:r>
                <a:rPr lang="en-US" sz="2799" b="1">
                  <a:solidFill>
                    <a:srgbClr val="000000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THE “VALENCE GAP”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84077"/>
              <a:ext cx="8727652" cy="4232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Prior research (Yang 2008 and Chaki 2020) shows Energy is easier to predict (R^2: 0.55–0.75) than Valence (R^2: 0.30–0.50). This is because volume and speed are objective, while "happiness" is subjective. </a:t>
              </a:r>
            </a:p>
            <a:p>
              <a:pPr algn="l">
                <a:lnSpc>
                  <a:spcPts val="3119"/>
                </a:lnSpc>
              </a:pPr>
              <a:endPara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08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182504" y="1669521"/>
            <a:ext cx="6545739" cy="4024410"/>
            <a:chOff x="0" y="0"/>
            <a:chExt cx="8727652" cy="5365880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7749477" cy="5742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99"/>
                </a:lnSpc>
              </a:pPr>
              <a:r>
                <a:rPr lang="en-US" sz="2799" b="1">
                  <a:solidFill>
                    <a:srgbClr val="000000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DEEP LEARNING ADVANTAGE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33605"/>
              <a:ext cx="8727652" cy="4232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Prior research (Yang 2008 and Chaki 2020) shows Energy is easier to predict (R^2: 0.55–0.75) than Valence (R^2: 0.30–0.50). This is because volume and speed are objective, while "happiness" is subjective. </a:t>
              </a:r>
            </a:p>
            <a:p>
              <a:pPr algn="l">
                <a:lnSpc>
                  <a:spcPts val="3119"/>
                </a:lnSpc>
              </a:pPr>
              <a:endPara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82504" y="5693931"/>
            <a:ext cx="6545739" cy="3243360"/>
            <a:chOff x="0" y="0"/>
            <a:chExt cx="8727652" cy="4324480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7749477" cy="5742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99"/>
                </a:lnSpc>
              </a:pPr>
              <a:r>
                <a:rPr lang="en-US" sz="2799" b="1">
                  <a:solidFill>
                    <a:srgbClr val="000000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LYRICS BOOST ACCURACY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33605"/>
              <a:ext cx="8727652" cy="3190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Laurier et al. (2009) shows that adding Lyrical Analysis (text AI) to audio data can help models better understand the mood of a song. This can improve valence scores by up to 0.08 in R^2.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501676" y="1669521"/>
            <a:ext cx="6545739" cy="3243360"/>
            <a:chOff x="0" y="0"/>
            <a:chExt cx="8727652" cy="432448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7749477" cy="5742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99"/>
                </a:lnSpc>
              </a:pPr>
              <a:r>
                <a:rPr lang="en-US" sz="2799" b="1">
                  <a:solidFill>
                    <a:srgbClr val="000000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CULTURAL CONTEXT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33605"/>
              <a:ext cx="8727652" cy="3190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A 2025 GlobalMood study used non-linear math to handle complex human factors. This accounted for how different cultures might perceive the same song as either "sad" or "peaceful."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D5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6175" y="1160967"/>
            <a:ext cx="6502477" cy="428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DATASET OVERVIEW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06175" y="5612582"/>
            <a:ext cx="6664988" cy="2800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Dataset includes </a:t>
            </a: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6 categorical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and </a:t>
            </a: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11 numerical variables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per track.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Key features include danceability, energy, loudness, tempo, valence, acousticness, and instrumentalness.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09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2767459" y="1466741"/>
            <a:ext cx="3138481" cy="1762125"/>
            <a:chOff x="0" y="0"/>
            <a:chExt cx="4184642" cy="2349500"/>
          </a:xfrm>
        </p:grpSpPr>
        <p:sp>
          <p:nvSpPr>
            <p:cNvPr id="6" name="TextBox 6"/>
            <p:cNvSpPr txBox="1"/>
            <p:nvPr/>
          </p:nvSpPr>
          <p:spPr>
            <a:xfrm>
              <a:off x="1072578" y="-57150"/>
              <a:ext cx="2039486" cy="1885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00"/>
                </a:lnSpc>
              </a:pPr>
              <a:r>
                <a:rPr lang="en-US" sz="9000" b="1">
                  <a:solidFill>
                    <a:srgbClr val="000000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9K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762125"/>
              <a:ext cx="4184642" cy="587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Tracks analyzed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784262" y="3804467"/>
            <a:ext cx="5104875" cy="2152650"/>
            <a:chOff x="0" y="0"/>
            <a:chExt cx="6806500" cy="2870200"/>
          </a:xfrm>
        </p:grpSpPr>
        <p:sp>
          <p:nvSpPr>
            <p:cNvPr id="9" name="TextBox 9"/>
            <p:cNvSpPr txBox="1"/>
            <p:nvPr/>
          </p:nvSpPr>
          <p:spPr>
            <a:xfrm>
              <a:off x="0" y="-57150"/>
              <a:ext cx="6806500" cy="1885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00"/>
                </a:lnSpc>
              </a:pPr>
              <a:r>
                <a:rPr lang="en-US" sz="9000" b="1">
                  <a:solidFill>
                    <a:srgbClr val="000000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17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10929" y="1762125"/>
              <a:ext cx="4184642" cy="1108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Variables per track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784262" y="6532719"/>
            <a:ext cx="5104875" cy="2152650"/>
            <a:chOff x="0" y="0"/>
            <a:chExt cx="6806500" cy="28702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57150"/>
              <a:ext cx="6806500" cy="1885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00"/>
                </a:lnSpc>
              </a:pPr>
              <a:r>
                <a:rPr lang="en-US" sz="9000" b="1">
                  <a:solidFill>
                    <a:srgbClr val="000000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0929" y="1762125"/>
              <a:ext cx="4184642" cy="1108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Genre groups studied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D5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25182" y="1632712"/>
            <a:ext cx="6334118" cy="7125883"/>
          </a:xfrm>
          <a:custGeom>
            <a:avLst/>
            <a:gdLst/>
            <a:ahLst/>
            <a:cxnLst/>
            <a:rect l="l" t="t" r="r" b="b"/>
            <a:pathLst>
              <a:path w="6334118" h="7125883">
                <a:moveTo>
                  <a:pt x="0" y="0"/>
                </a:moveTo>
                <a:lnTo>
                  <a:pt x="6334118" y="0"/>
                </a:lnTo>
                <a:lnTo>
                  <a:pt x="6334118" y="7125883"/>
                </a:lnTo>
                <a:lnTo>
                  <a:pt x="0" y="71258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10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208232" y="4162383"/>
            <a:ext cx="6253218" cy="3582471"/>
            <a:chOff x="0" y="0"/>
            <a:chExt cx="8337624" cy="4776628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7749477" cy="5742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99"/>
                </a:lnSpc>
              </a:pPr>
              <a:r>
                <a:rPr lang="en-US" sz="2799" b="1">
                  <a:solidFill>
                    <a:srgbClr val="000000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GENRE GROUPS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065053"/>
              <a:ext cx="8337624" cy="3711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Tracks were grouped into one of 3 groups: rhythmic (salsa, latin, reggaeton), Classical (opera, classical, piano), Hard</a:t>
              </a:r>
            </a:p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Rock (punk-rock, heavy-metal, punk)</a:t>
              </a:r>
            </a:p>
            <a:p>
              <a:pPr algn="l">
                <a:lnSpc>
                  <a:spcPts val="3119"/>
                </a:lnSpc>
              </a:pPr>
              <a:endPara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206175" y="1632712"/>
            <a:ext cx="6935768" cy="2020371"/>
            <a:chOff x="0" y="0"/>
            <a:chExt cx="9247690" cy="2693828"/>
          </a:xfrm>
        </p:grpSpPr>
        <p:sp>
          <p:nvSpPr>
            <p:cNvPr id="8" name="TextBox 8"/>
            <p:cNvSpPr txBox="1"/>
            <p:nvPr/>
          </p:nvSpPr>
          <p:spPr>
            <a:xfrm>
              <a:off x="0" y="-9525"/>
              <a:ext cx="7749477" cy="5742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99"/>
                </a:lnSpc>
              </a:pPr>
              <a:r>
                <a:rPr lang="en-US" sz="2799" b="1">
                  <a:solidFill>
                    <a:srgbClr val="000000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DATA LOSS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065053"/>
              <a:ext cx="9247690" cy="1628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There were minimal missing values with negligible data loss after cleaning.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6175" y="1160967"/>
            <a:ext cx="13626467" cy="238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DEFINED AUDIO FEATURES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06175" y="4065270"/>
            <a:ext cx="14905434" cy="537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89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Danceability: 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Tempo, rhythm stability, beat strength combination (0.0–1.0 scale)</a:t>
            </a:r>
          </a:p>
          <a:p>
            <a:pPr marL="561337" lvl="1" indent="-280669" algn="l">
              <a:lnSpc>
                <a:spcPts val="389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Energy: 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Intensity and activity level measure (0.0–1.0 scale)</a:t>
            </a:r>
          </a:p>
          <a:p>
            <a:pPr marL="561337" lvl="1" indent="-280669" algn="l">
              <a:lnSpc>
                <a:spcPts val="389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Loudness: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Overall volume in decibels (dB)</a:t>
            </a:r>
          </a:p>
          <a:p>
            <a:pPr marL="561337" lvl="1" indent="-280669" algn="l">
              <a:lnSpc>
                <a:spcPts val="389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Tempo: 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Speed or pace in beats per minute (BPM)</a:t>
            </a:r>
          </a:p>
          <a:p>
            <a:pPr marL="561337" lvl="1" indent="-280669" algn="l">
              <a:lnSpc>
                <a:spcPts val="389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Valence: 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Musical positiveness conveyed (0.0–1.0 scale)</a:t>
            </a:r>
          </a:p>
          <a:p>
            <a:pPr marL="561337" lvl="1" indent="-280669" algn="l">
              <a:lnSpc>
                <a:spcPts val="389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Acousticness: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Confidence measure for acoustic nature (0.0–1.0 scale)</a:t>
            </a:r>
          </a:p>
          <a:p>
            <a:pPr marL="561337" lvl="1" indent="-280669" algn="l">
              <a:lnSpc>
                <a:spcPts val="389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Instrumentalness: 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Likelihood of no vocals (0.0–1.0 scale)</a:t>
            </a:r>
          </a:p>
          <a:p>
            <a:pPr marL="561337" lvl="1" indent="-280669" algn="l">
              <a:lnSpc>
                <a:spcPts val="389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Speechiness: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Presence of spoken words detection</a:t>
            </a:r>
          </a:p>
          <a:p>
            <a:pPr marL="561337" lvl="1" indent="-280669" algn="l">
              <a:lnSpc>
                <a:spcPts val="389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Liveness: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Identifies the presence of an audience in the recording</a:t>
            </a:r>
          </a:p>
          <a:p>
            <a:pPr marL="561337" lvl="1" indent="-280669" algn="l">
              <a:lnSpc>
                <a:spcPts val="389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duration_ms: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Specifies the length of the track</a:t>
            </a:r>
          </a:p>
          <a:p>
            <a:pPr marL="561337" lvl="1" indent="-280669" algn="l">
              <a:lnSpc>
                <a:spcPts val="389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Popularity: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Rates the popularity of a track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D5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6175" y="1160967"/>
            <a:ext cx="14206990" cy="428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GENRE GROUP CHARACTERISTICS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06175" y="5612582"/>
            <a:ext cx="12149145" cy="3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G1 Rhythmic: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Highest valence (0.696), cheerful music, very low</a:t>
            </a:r>
          </a:p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instrumentalness (0.008), predominantly vocal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algn="l">
              <a:lnSpc>
                <a:spcPts val="3119"/>
              </a:lnSpc>
            </a:pP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G2 Classical: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Lowest valence (0.303), subdued emotional tone,</a:t>
            </a:r>
          </a:p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highest acousticness (0.807), longest duration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algn="l">
              <a:lnSpc>
                <a:spcPts val="3119"/>
              </a:lnSpc>
            </a:pP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G3 Hard Rock: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Moderate valence (0.504), highest energy (0.831),</a:t>
            </a:r>
          </a:p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intense powerful music, fastest tempo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D5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37815" y="2364876"/>
            <a:ext cx="13337395" cy="5557248"/>
          </a:xfrm>
          <a:custGeom>
            <a:avLst/>
            <a:gdLst/>
            <a:ahLst/>
            <a:cxnLst/>
            <a:rect l="l" t="t" r="r" b="b"/>
            <a:pathLst>
              <a:path w="13337395" h="5557248">
                <a:moveTo>
                  <a:pt x="0" y="0"/>
                </a:moveTo>
                <a:lnTo>
                  <a:pt x="13337394" y="0"/>
                </a:lnTo>
                <a:lnTo>
                  <a:pt x="13337394" y="5557248"/>
                </a:lnTo>
                <a:lnTo>
                  <a:pt x="0" y="5557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6175" y="1160967"/>
            <a:ext cx="7662283" cy="238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CORRELATIONS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14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241298" y="1589592"/>
            <a:ext cx="4081050" cy="1762125"/>
            <a:chOff x="0" y="0"/>
            <a:chExt cx="5441400" cy="2349500"/>
          </a:xfrm>
        </p:grpSpPr>
        <p:sp>
          <p:nvSpPr>
            <p:cNvPr id="5" name="TextBox 5"/>
            <p:cNvSpPr txBox="1"/>
            <p:nvPr/>
          </p:nvSpPr>
          <p:spPr>
            <a:xfrm>
              <a:off x="1700957" y="-57150"/>
              <a:ext cx="2039486" cy="1885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00"/>
                </a:lnSpc>
              </a:pPr>
              <a:r>
                <a:rPr lang="en-US" sz="9000" b="1">
                  <a:solidFill>
                    <a:srgbClr val="000000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0.83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62125"/>
              <a:ext cx="5441400" cy="587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G2 Loudness-Energy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729386" y="4148679"/>
            <a:ext cx="5104875" cy="1762125"/>
            <a:chOff x="0" y="0"/>
            <a:chExt cx="6806500" cy="2349500"/>
          </a:xfrm>
        </p:grpSpPr>
        <p:sp>
          <p:nvSpPr>
            <p:cNvPr id="8" name="TextBox 8"/>
            <p:cNvSpPr txBox="1"/>
            <p:nvPr/>
          </p:nvSpPr>
          <p:spPr>
            <a:xfrm>
              <a:off x="0" y="-57150"/>
              <a:ext cx="6806500" cy="1885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00"/>
                </a:lnSpc>
              </a:pPr>
              <a:r>
                <a:rPr lang="en-US" sz="9000" b="1">
                  <a:solidFill>
                    <a:srgbClr val="000000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0.53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7526" y="1762125"/>
              <a:ext cx="6091447" cy="587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G2 Danceability-Valence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729386" y="6710904"/>
            <a:ext cx="5104875" cy="1762125"/>
            <a:chOff x="0" y="0"/>
            <a:chExt cx="6806500" cy="234950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57150"/>
              <a:ext cx="6806500" cy="1885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00"/>
                </a:lnSpc>
              </a:pPr>
              <a:r>
                <a:rPr lang="en-US" sz="9000" b="1">
                  <a:solidFill>
                    <a:srgbClr val="000000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0.63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7536" y="1762125"/>
              <a:ext cx="5831429" cy="587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G1/G3 Loudness-Energy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206175" y="3669571"/>
            <a:ext cx="7839180" cy="546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G1 Rhythmic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shows moderate positive correlation between acousticness and valence (0.25)</a:t>
            </a:r>
          </a:p>
          <a:p>
            <a:pPr algn="l">
              <a:lnSpc>
                <a:spcPts val="2250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algn="l">
              <a:lnSpc>
                <a:spcPts val="3899"/>
              </a:lnSpc>
            </a:pP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G2 Classical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exhibits very strong correlations with loudness-energy (0.83) and</a:t>
            </a:r>
          </a:p>
          <a:p>
            <a:pPr algn="l">
              <a:lnSpc>
                <a:spcPts val="3899"/>
              </a:lnSpc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acousticness-energy (-0.83)</a:t>
            </a:r>
          </a:p>
          <a:p>
            <a:pPr algn="l">
              <a:lnSpc>
                <a:spcPts val="2250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algn="l">
              <a:lnSpc>
                <a:spcPts val="3899"/>
              </a:lnSpc>
            </a:pP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G3 Hard Rock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demonstrates moderate danceability-valence correlation (0.40) and</a:t>
            </a:r>
          </a:p>
          <a:p>
            <a:pPr algn="l">
              <a:lnSpc>
                <a:spcPts val="3899"/>
              </a:lnSpc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strong loudness-energy (0.63)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D5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6175" y="1160967"/>
            <a:ext cx="13178280" cy="238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METHODOLOGY OVERVIEW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06175" y="3785862"/>
            <a:ext cx="9590202" cy="397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All models implemented in R with 75/25 train-test split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Features scaled for distance-sensitive models using z-score standardization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5-fold cross-validation for hyperparameter tuning across all approaches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Three evaluation metrics: RMSE, MAE, and R².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D5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17164" y="1466741"/>
            <a:ext cx="702403" cy="70240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16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028393" y="2272075"/>
            <a:ext cx="6274960" cy="1245737"/>
            <a:chOff x="0" y="0"/>
            <a:chExt cx="8366613" cy="1660982"/>
          </a:xfrm>
        </p:grpSpPr>
        <p:sp>
          <p:nvSpPr>
            <p:cNvPr id="7" name="TextBox 7"/>
            <p:cNvSpPr txBox="1"/>
            <p:nvPr/>
          </p:nvSpPr>
          <p:spPr>
            <a:xfrm>
              <a:off x="2188493" y="-28575"/>
              <a:ext cx="3577931" cy="1036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00"/>
                </a:lnSpc>
              </a:pPr>
              <a:r>
                <a:rPr lang="en-US" sz="5000" b="1">
                  <a:solidFill>
                    <a:srgbClr val="000000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LINEAR MODEL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073607"/>
              <a:ext cx="8366613" cy="587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Baseline with interactions tested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028393" y="4732611"/>
            <a:ext cx="6079946" cy="1338932"/>
            <a:chOff x="0" y="0"/>
            <a:chExt cx="8106594" cy="1785243"/>
          </a:xfrm>
        </p:grpSpPr>
        <p:sp>
          <p:nvSpPr>
            <p:cNvPr id="10" name="TextBox 10"/>
            <p:cNvSpPr txBox="1"/>
            <p:nvPr/>
          </p:nvSpPr>
          <p:spPr>
            <a:xfrm>
              <a:off x="2264332" y="-28575"/>
              <a:ext cx="3577931" cy="1036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00"/>
                </a:lnSpc>
              </a:pPr>
              <a:r>
                <a:rPr lang="en-US" sz="5000" b="1">
                  <a:solidFill>
                    <a:srgbClr val="000000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ELASTIC NET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97868"/>
              <a:ext cx="8106594" cy="587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L1+L2 regularization for stability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605310" y="7484837"/>
            <a:ext cx="4926112" cy="1648201"/>
            <a:chOff x="0" y="0"/>
            <a:chExt cx="6568149" cy="2197602"/>
          </a:xfrm>
        </p:grpSpPr>
        <p:sp>
          <p:nvSpPr>
            <p:cNvPr id="13" name="TextBox 13"/>
            <p:cNvSpPr txBox="1"/>
            <p:nvPr/>
          </p:nvSpPr>
          <p:spPr>
            <a:xfrm>
              <a:off x="1495109" y="-28575"/>
              <a:ext cx="3577931" cy="1036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00"/>
                </a:lnSpc>
              </a:pPr>
              <a:r>
                <a:rPr lang="en-US" sz="5000" b="1">
                  <a:solidFill>
                    <a:srgbClr val="000000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KNN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89527"/>
              <a:ext cx="6568149" cy="1108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Instance-based lazy learning approach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24226" y="2190165"/>
            <a:ext cx="7835074" cy="1306430"/>
            <a:chOff x="0" y="0"/>
            <a:chExt cx="10446765" cy="1741906"/>
          </a:xfrm>
        </p:grpSpPr>
        <p:sp>
          <p:nvSpPr>
            <p:cNvPr id="16" name="TextBox 16"/>
            <p:cNvSpPr txBox="1"/>
            <p:nvPr/>
          </p:nvSpPr>
          <p:spPr>
            <a:xfrm>
              <a:off x="3434417" y="-28575"/>
              <a:ext cx="3577931" cy="1036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00"/>
                </a:lnSpc>
              </a:pPr>
              <a:r>
                <a:rPr lang="en-US" sz="5000" b="1">
                  <a:solidFill>
                    <a:srgbClr val="000000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RANDOM FOREST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154531"/>
              <a:ext cx="10446765" cy="587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300 bagged decision trees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212409" y="4701765"/>
            <a:ext cx="6258709" cy="1715463"/>
            <a:chOff x="0" y="0"/>
            <a:chExt cx="8344945" cy="2287284"/>
          </a:xfrm>
        </p:grpSpPr>
        <p:sp>
          <p:nvSpPr>
            <p:cNvPr id="19" name="TextBox 19"/>
            <p:cNvSpPr txBox="1"/>
            <p:nvPr/>
          </p:nvSpPr>
          <p:spPr>
            <a:xfrm>
              <a:off x="2383507" y="-28575"/>
              <a:ext cx="3577931" cy="1036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00"/>
                </a:lnSpc>
              </a:pPr>
              <a:r>
                <a:rPr lang="en-US" sz="5000" b="1">
                  <a:solidFill>
                    <a:srgbClr val="000000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XGBOOST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179209"/>
              <a:ext cx="8344945" cy="1108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Gradient boosting with regularization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057470" y="7575339"/>
            <a:ext cx="4568586" cy="1682961"/>
            <a:chOff x="0" y="0"/>
            <a:chExt cx="6091447" cy="2243948"/>
          </a:xfrm>
        </p:grpSpPr>
        <p:sp>
          <p:nvSpPr>
            <p:cNvPr id="22" name="TextBox 22"/>
            <p:cNvSpPr txBox="1"/>
            <p:nvPr/>
          </p:nvSpPr>
          <p:spPr>
            <a:xfrm>
              <a:off x="1256758" y="-28575"/>
              <a:ext cx="3577931" cy="1036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00"/>
                </a:lnSpc>
              </a:pPr>
              <a:r>
                <a:rPr lang="en-US" sz="5000" b="1">
                  <a:solidFill>
                    <a:srgbClr val="000000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STACKED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135873"/>
              <a:ext cx="6091447" cy="1108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Meta-learner combining all models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001492" y="1561036"/>
            <a:ext cx="13374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1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4717164" y="3849233"/>
            <a:ext cx="702403" cy="702403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959870" y="3943528"/>
            <a:ext cx="21699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2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4717164" y="6601459"/>
            <a:ext cx="702403" cy="702403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4957737" y="6695754"/>
            <a:ext cx="22125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3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2990562" y="1466741"/>
            <a:ext cx="702403" cy="702403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3230837" y="1561036"/>
            <a:ext cx="221853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4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2990562" y="3825465"/>
            <a:ext cx="702403" cy="702403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3237583" y="3919760"/>
            <a:ext cx="20835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5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2990562" y="6722028"/>
            <a:ext cx="702403" cy="702403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9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3231283" y="6816323"/>
            <a:ext cx="22096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6175" y="1160967"/>
            <a:ext cx="7662283" cy="238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LINEAR MODEL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06175" y="3859930"/>
            <a:ext cx="12650079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Energy consistently well-predicted but valence shows weak</a:t>
            </a:r>
          </a:p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linear relationships.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06175" y="5155330"/>
            <a:ext cx="13690154" cy="410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We used 5 combinations of predictors separately and these are the best results we got.</a:t>
            </a:r>
          </a:p>
          <a:p>
            <a:pPr algn="l">
              <a:lnSpc>
                <a:spcPts val="1800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G2 Classical achieved strongest energy results with R² = 0.891 using full feature set</a:t>
            </a:r>
          </a:p>
          <a:p>
            <a:pPr algn="l">
              <a:lnSpc>
                <a:spcPts val="1800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G1 Rhythmic showed weakest valence starting point with danceability alone R² = 0.012</a:t>
            </a:r>
          </a:p>
          <a:p>
            <a:pPr algn="l">
              <a:lnSpc>
                <a:spcPts val="1800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Loudness proved indispensable for energy prediction across all groups</a:t>
            </a:r>
          </a:p>
          <a:p>
            <a:pPr algn="l">
              <a:lnSpc>
                <a:spcPts val="1800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Tempo and danceability carry little linear signal for energy prediction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65468" y="2216242"/>
            <a:ext cx="9157063" cy="5854516"/>
          </a:xfrm>
          <a:custGeom>
            <a:avLst/>
            <a:gdLst/>
            <a:ahLst/>
            <a:cxnLst/>
            <a:rect l="l" t="t" r="r" b="b"/>
            <a:pathLst>
              <a:path w="9157063" h="5854516">
                <a:moveTo>
                  <a:pt x="0" y="0"/>
                </a:moveTo>
                <a:lnTo>
                  <a:pt x="9157064" y="0"/>
                </a:lnTo>
                <a:lnTo>
                  <a:pt x="9157064" y="5854516"/>
                </a:lnTo>
                <a:lnTo>
                  <a:pt x="0" y="58545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6175" y="1160967"/>
            <a:ext cx="7662283" cy="238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ELASTIC NET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19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06175" y="3859930"/>
            <a:ext cx="1265007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Elastic Net outperforms plain linear regression.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06175" y="4707655"/>
            <a:ext cx="13690154" cy="3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Limited gains for valence confirm weak linear signal.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It had particularly strong gains for energy prediction.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G2: Classical energy had approx. 0.87 R² which was very good and valence reached 0.41 R² for G2.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Valence still remained a challenge to predict using Elastic Net.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15429" y="2569731"/>
            <a:ext cx="7399143" cy="5085608"/>
          </a:xfrm>
          <a:custGeom>
            <a:avLst/>
            <a:gdLst/>
            <a:ahLst/>
            <a:cxnLst/>
            <a:rect l="l" t="t" r="r" b="b"/>
            <a:pathLst>
              <a:path w="7399143" h="5085608">
                <a:moveTo>
                  <a:pt x="0" y="0"/>
                </a:moveTo>
                <a:lnTo>
                  <a:pt x="7399143" y="0"/>
                </a:lnTo>
                <a:lnTo>
                  <a:pt x="7399143" y="5085608"/>
                </a:lnTo>
                <a:lnTo>
                  <a:pt x="0" y="508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833999" y="2569731"/>
            <a:ext cx="7149031" cy="5085608"/>
          </a:xfrm>
          <a:custGeom>
            <a:avLst/>
            <a:gdLst/>
            <a:ahLst/>
            <a:cxnLst/>
            <a:rect l="l" t="t" r="r" b="b"/>
            <a:pathLst>
              <a:path w="7149031" h="5085608">
                <a:moveTo>
                  <a:pt x="0" y="0"/>
                </a:moveTo>
                <a:lnTo>
                  <a:pt x="7149031" y="0"/>
                </a:lnTo>
                <a:lnTo>
                  <a:pt x="7149031" y="5085608"/>
                </a:lnTo>
                <a:lnTo>
                  <a:pt x="0" y="508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6175" y="1164355"/>
            <a:ext cx="10197467" cy="238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KNN VS KNN + PCA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21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06175" y="3984004"/>
            <a:ext cx="7937235" cy="436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Largest performance loss occurred for G2 Classical energy ( 0.057 R²)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With only 10 features, curse of dimensionality is not significant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PCA projection discards locally relevant structure for KNN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Standard KNN outperformed PCA-preprocessed across all genres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048240" y="1466741"/>
            <a:ext cx="3674770" cy="1857123"/>
            <a:chOff x="0" y="0"/>
            <a:chExt cx="4899694" cy="2476165"/>
          </a:xfrm>
        </p:grpSpPr>
        <p:sp>
          <p:nvSpPr>
            <p:cNvPr id="6" name="TextBox 6"/>
            <p:cNvSpPr txBox="1"/>
            <p:nvPr/>
          </p:nvSpPr>
          <p:spPr>
            <a:xfrm>
              <a:off x="855896" y="-57150"/>
              <a:ext cx="2689533" cy="1885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00"/>
                </a:lnSpc>
              </a:pPr>
              <a:r>
                <a:rPr lang="en-US" sz="9000" b="1">
                  <a:solidFill>
                    <a:srgbClr val="000000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-0.057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888790"/>
              <a:ext cx="4899694" cy="587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Largest PCA loss G2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048240" y="4043376"/>
            <a:ext cx="3674770" cy="1857123"/>
            <a:chOff x="0" y="0"/>
            <a:chExt cx="4899694" cy="2476165"/>
          </a:xfrm>
        </p:grpSpPr>
        <p:sp>
          <p:nvSpPr>
            <p:cNvPr id="9" name="TextBox 9"/>
            <p:cNvSpPr txBox="1"/>
            <p:nvPr/>
          </p:nvSpPr>
          <p:spPr>
            <a:xfrm>
              <a:off x="1105081" y="-57150"/>
              <a:ext cx="2689533" cy="1885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00"/>
                </a:lnSpc>
              </a:pPr>
              <a:r>
                <a:rPr lang="en-US" sz="9000" b="1">
                  <a:solidFill>
                    <a:srgbClr val="000000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10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888790"/>
              <a:ext cx="4899694" cy="587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Feature count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6175" y="1164355"/>
            <a:ext cx="10197467" cy="238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RANDOM FOREST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23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06175" y="4707655"/>
            <a:ext cx="10066140" cy="436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G3 Hard Rock achieved strongest RF valence result with R² = 0.648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G2 Classical energy reached R² = 0.918, highest RF result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More than doubles linear model R² for G1 Rhythmic valence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Bagging handles high-variance valence better than gradient boosting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06175" y="3859930"/>
            <a:ext cx="1265007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Random Forest outperformed the previously tested models.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80129" y="2293066"/>
            <a:ext cx="9121463" cy="6074644"/>
          </a:xfrm>
          <a:custGeom>
            <a:avLst/>
            <a:gdLst/>
            <a:ahLst/>
            <a:cxnLst/>
            <a:rect l="l" t="t" r="r" b="b"/>
            <a:pathLst>
              <a:path w="9121463" h="6074644">
                <a:moveTo>
                  <a:pt x="0" y="0"/>
                </a:moveTo>
                <a:lnTo>
                  <a:pt x="9121463" y="0"/>
                </a:lnTo>
                <a:lnTo>
                  <a:pt x="9121463" y="6074645"/>
                </a:lnTo>
                <a:lnTo>
                  <a:pt x="0" y="60746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4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6175" y="1164355"/>
            <a:ext cx="10197467" cy="238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XGBOOST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25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06175" y="3862593"/>
            <a:ext cx="10066140" cy="436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Sequential error-correcting nature optimized for strong learnable signals like energy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Matches Random Forest within 0.003 for all other energy prediction targets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Underperforms Random Forest for valence in 2 out of 3 groups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Gradient boosting appears to overfit noisy valence signal versus RF averaging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048240" y="1434238"/>
            <a:ext cx="3674770" cy="1889626"/>
            <a:chOff x="0" y="0"/>
            <a:chExt cx="4899694" cy="2519501"/>
          </a:xfrm>
        </p:grpSpPr>
        <p:sp>
          <p:nvSpPr>
            <p:cNvPr id="6" name="TextBox 6"/>
            <p:cNvSpPr txBox="1"/>
            <p:nvPr/>
          </p:nvSpPr>
          <p:spPr>
            <a:xfrm>
              <a:off x="1105081" y="-57150"/>
              <a:ext cx="2689533" cy="1885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00"/>
                </a:lnSpc>
              </a:pPr>
              <a:r>
                <a:rPr lang="en-US" sz="9000" b="1">
                  <a:solidFill>
                    <a:srgbClr val="000000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0.920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32126"/>
              <a:ext cx="4899694" cy="587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Best Energy R^2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048240" y="4043376"/>
            <a:ext cx="3674770" cy="3103048"/>
            <a:chOff x="0" y="0"/>
            <a:chExt cx="4899694" cy="4137397"/>
          </a:xfrm>
        </p:grpSpPr>
        <p:sp>
          <p:nvSpPr>
            <p:cNvPr id="9" name="TextBox 9"/>
            <p:cNvSpPr txBox="1"/>
            <p:nvPr/>
          </p:nvSpPr>
          <p:spPr>
            <a:xfrm>
              <a:off x="195014" y="-57150"/>
              <a:ext cx="4509666" cy="3409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00"/>
                </a:lnSpc>
              </a:pPr>
              <a:r>
                <a:rPr lang="en-US" sz="9000" b="1">
                  <a:solidFill>
                    <a:srgbClr val="000000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G2 CLASSICAL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3550022"/>
              <a:ext cx="4899694" cy="587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Top Performance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6175" y="1164355"/>
            <a:ext cx="10197467" cy="238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STACKED ENSEMBLE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27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71839" y="5155330"/>
            <a:ext cx="10423666" cy="436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Combines Linear Regression, Elastic Net, KNN, Random Forest, and XGBoost base learners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Uses 5-fold out-of-fold prediction preventing data leakage in meta-learner training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Largest gain achieved for G3 Hard Rock valence with +0.014 improvement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Meta-learner learns optimal weighting to compensate individual model weaknesses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06175" y="3859930"/>
            <a:ext cx="12650079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Stacked Ensemble wins 5 of 6 comparisons with highest overall R² = 0.922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49280" y="2098117"/>
            <a:ext cx="8636900" cy="6090767"/>
          </a:xfrm>
          <a:custGeom>
            <a:avLst/>
            <a:gdLst/>
            <a:ahLst/>
            <a:cxnLst/>
            <a:rect l="l" t="t" r="r" b="b"/>
            <a:pathLst>
              <a:path w="8636900" h="6090767">
                <a:moveTo>
                  <a:pt x="0" y="0"/>
                </a:moveTo>
                <a:lnTo>
                  <a:pt x="8636900" y="0"/>
                </a:lnTo>
                <a:lnTo>
                  <a:pt x="8636900" y="6090766"/>
                </a:lnTo>
                <a:lnTo>
                  <a:pt x="0" y="6090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4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D5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6175" y="1164355"/>
            <a:ext cx="14682794" cy="238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OVERALL MODEL COMPARISON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29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47572" y="4114800"/>
            <a:ext cx="7660965" cy="514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Maximum valence R² approximately 0.60–0.66 compared to 0.76–0.92 for energy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Tree-based models substantially outperform linear models with R² gains up to +0.24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Energy driven by non-linear interactions between loudness, acousticness, and danceability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206175" y="4245263"/>
            <a:ext cx="7090045" cy="475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Stacked Ensemble 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– most consistent winner (5/6 tasks)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Random Forest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– best single model for valence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XGBoost 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– best single model for energy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KNN</a:t>
            </a: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– strong but sensitive to preprocessing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D5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6175" y="1164355"/>
            <a:ext cx="14682794" cy="1923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 dirty="0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SHAP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30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06175" y="3859930"/>
            <a:ext cx="12650079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dirty="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Danceability shows highest cross-group divergence for valence prediction.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1839" y="5155330"/>
            <a:ext cx="10423666" cy="436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 dirty="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Danceability 3× more important for G2 Classical and G3 Hard Rock than G1 Rhythmic</a:t>
            </a:r>
          </a:p>
          <a:p>
            <a:pPr algn="l">
              <a:lnSpc>
                <a:spcPts val="3119"/>
              </a:lnSpc>
            </a:pPr>
            <a:endParaRPr lang="en-US" sz="2599" dirty="0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 dirty="0" err="1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Acousticness</a:t>
            </a:r>
            <a:r>
              <a:rPr lang="en-US" sz="2599" dirty="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and liveness drive G1 Rhythmic valence prediction</a:t>
            </a:r>
          </a:p>
          <a:p>
            <a:pPr algn="l">
              <a:lnSpc>
                <a:spcPts val="3119"/>
              </a:lnSpc>
            </a:pPr>
            <a:endParaRPr lang="en-US" sz="2599" dirty="0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 dirty="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Tempo and </a:t>
            </a:r>
            <a:r>
              <a:rPr lang="en-US" sz="2599" dirty="0" err="1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speechiness</a:t>
            </a:r>
            <a:r>
              <a:rPr lang="en-US" sz="2599" dirty="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most critical for G3 Hard Rock sentiment</a:t>
            </a:r>
          </a:p>
          <a:p>
            <a:pPr algn="l">
              <a:lnSpc>
                <a:spcPts val="3119"/>
              </a:lnSpc>
            </a:pPr>
            <a:endParaRPr lang="en-US" sz="2599" dirty="0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 dirty="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Explicit content has zero importance in every genre group tested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3942056" y="3886667"/>
            <a:ext cx="3674770" cy="2280151"/>
            <a:chOff x="0" y="0"/>
            <a:chExt cx="4899694" cy="3040201"/>
          </a:xfrm>
        </p:grpSpPr>
        <p:sp>
          <p:nvSpPr>
            <p:cNvPr id="7" name="TextBox 7"/>
            <p:cNvSpPr txBox="1"/>
            <p:nvPr/>
          </p:nvSpPr>
          <p:spPr>
            <a:xfrm>
              <a:off x="1105081" y="-57150"/>
              <a:ext cx="2689533" cy="1885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00"/>
                </a:lnSpc>
              </a:pPr>
              <a:r>
                <a:rPr lang="en-US" sz="9000" b="1">
                  <a:solidFill>
                    <a:srgbClr val="000000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0.054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932126"/>
              <a:ext cx="4899694" cy="1108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Danceability Divergence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942056" y="6557343"/>
            <a:ext cx="3674770" cy="2280151"/>
            <a:chOff x="0" y="0"/>
            <a:chExt cx="4899694" cy="3040201"/>
          </a:xfrm>
        </p:grpSpPr>
        <p:sp>
          <p:nvSpPr>
            <p:cNvPr id="10" name="TextBox 10"/>
            <p:cNvSpPr txBox="1"/>
            <p:nvPr/>
          </p:nvSpPr>
          <p:spPr>
            <a:xfrm>
              <a:off x="1105081" y="-57150"/>
              <a:ext cx="2689533" cy="1885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00"/>
                </a:lnSpc>
              </a:pPr>
              <a:r>
                <a:rPr lang="en-US" sz="9000" b="1">
                  <a:solidFill>
                    <a:srgbClr val="000000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G2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932126"/>
              <a:ext cx="4899694" cy="1108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Danceability Dominant</a:t>
              </a:r>
            </a:p>
          </p:txBody>
        </p:sp>
      </p:grpSp>
      <p:pic>
        <p:nvPicPr>
          <p:cNvPr id="16" name="Picture 2">
            <a:extLst>
              <a:ext uri="{FF2B5EF4-FFF2-40B4-BE49-F238E27FC236}">
                <a16:creationId xmlns:a16="http://schemas.microsoft.com/office/drawing/2014/main" id="{5F82E9E8-64DB-9780-6037-610AC1E9A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309" y="1288130"/>
            <a:ext cx="1998189" cy="2123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>
            <a:extLst>
              <a:ext uri="{FF2B5EF4-FFF2-40B4-BE49-F238E27FC236}">
                <a16:creationId xmlns:a16="http://schemas.microsoft.com/office/drawing/2014/main" id="{DE627417-CBD6-02E5-B98C-A128EB90B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1288130"/>
            <a:ext cx="1998189" cy="2123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14D16D91-F81B-3166-87BF-415DC0CA7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7889" y="1292703"/>
            <a:ext cx="1907426" cy="202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00A235C-BB99-0095-A295-4A2136DF8CAC}"/>
              </a:ext>
            </a:extLst>
          </p:cNvPr>
          <p:cNvSpPr txBox="1"/>
          <p:nvPr/>
        </p:nvSpPr>
        <p:spPr>
          <a:xfrm>
            <a:off x="7852344" y="3359331"/>
            <a:ext cx="12916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864A04"/>
                </a:solidFill>
                <a:latin typeface="Segoe UI"/>
              </a:rPr>
              <a:t>G1: </a:t>
            </a:r>
            <a:r>
              <a:rPr lang="en-US" sz="1100" b="1" dirty="0" err="1">
                <a:solidFill>
                  <a:srgbClr val="864A04"/>
                </a:solidFill>
                <a:latin typeface="Segoe UI"/>
              </a:rPr>
              <a:t>Rythmic</a:t>
            </a:r>
            <a:endParaRPr lang="en-US" sz="1100" b="1" dirty="0">
              <a:solidFill>
                <a:srgbClr val="864A04"/>
              </a:solidFill>
              <a:latin typeface="Segoe U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FAB966-B02A-C9FA-A8E2-106F7FC9C273}"/>
              </a:ext>
            </a:extLst>
          </p:cNvPr>
          <p:cNvSpPr txBox="1"/>
          <p:nvPr/>
        </p:nvSpPr>
        <p:spPr>
          <a:xfrm>
            <a:off x="10817285" y="3411809"/>
            <a:ext cx="13948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1">
                <a:solidFill>
                  <a:srgbClr val="864A04"/>
                </a:solidFill>
                <a:latin typeface="Segoe UI"/>
              </a:defRPr>
            </a:lvl1pPr>
          </a:lstStyle>
          <a:p>
            <a:r>
              <a:rPr lang="en-US" dirty="0"/>
              <a:t>G2: Classical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DFB6E4-EA5E-A920-EFFD-AB40BDF29F36}"/>
              </a:ext>
            </a:extLst>
          </p:cNvPr>
          <p:cNvSpPr txBox="1"/>
          <p:nvPr/>
        </p:nvSpPr>
        <p:spPr>
          <a:xfrm>
            <a:off x="14259051" y="3285577"/>
            <a:ext cx="14198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864A04"/>
                </a:solidFill>
                <a:latin typeface="Poppins"/>
              </a:rPr>
              <a:t>G3: </a:t>
            </a:r>
            <a:r>
              <a:rPr lang="en-US" sz="1100" b="1" dirty="0">
                <a:solidFill>
                  <a:srgbClr val="864A04"/>
                </a:solidFill>
                <a:latin typeface="Segoe UI"/>
              </a:rPr>
              <a:t>Hard</a:t>
            </a:r>
            <a:r>
              <a:rPr lang="en-US" sz="1100" b="1" dirty="0">
                <a:solidFill>
                  <a:srgbClr val="864A04"/>
                </a:solidFill>
                <a:latin typeface="Poppins"/>
              </a:rPr>
              <a:t> Rock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D5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6175" y="1164355"/>
            <a:ext cx="14682794" cy="238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KEY INSIGHTS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31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06175" y="3859930"/>
            <a:ext cx="1370640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Genre stratification reveals distinct feature-emotion mappings that would be obscured in pooled models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1839" y="5155330"/>
            <a:ext cx="12812590" cy="436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Acousticness and liveness drive G1 Rhythmic valence prediction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Danceability and duration drive G2 Classical valence prediction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Tempo and speechiness drive G3 Hard Rock valence prediction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Music emotion recognition systems should be genre-aware rather than genre-agnostic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Increasing model complexity does not always help, feature selection matters more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D5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6175" y="1164355"/>
            <a:ext cx="14682794" cy="238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32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06175" y="3725225"/>
            <a:ext cx="12812590" cy="514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Energy reliably predictable from audio features with best R² = 0.922 for G2 Classical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Valence prediction challenging with best R² = 0.662 confirming the valence problem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Stacked Ensemble most consistently best model winning 5 of 6 comparisons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Genre stratification reveals distinct feature-emotion mappings: acousticness and liveness drive G1 Rhythmic valence; danceability and duration drive G2 Classical valence, tempo and speechiness drives G3 Hard Rock valence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D5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6175" y="1164355"/>
            <a:ext cx="14682794" cy="238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NEXT STEPS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8766" y="1428641"/>
            <a:ext cx="643309" cy="114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b="1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33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06175" y="3725225"/>
            <a:ext cx="12812590" cy="3581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Explore inclusion of lyrical features for improved valence prediction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Test raw audio deep learning representations beyond hand-crafted features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Incorporate listener demographic data to address subjective interpretation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Cross-cultural validation of emotional perception variations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1649</Words>
  <Application>Microsoft Macintosh PowerPoint</Application>
  <PresentationFormat>Custom</PresentationFormat>
  <Paragraphs>280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Heading Now 31-38 Bold</vt:lpstr>
      <vt:lpstr>Arial</vt:lpstr>
      <vt:lpstr>Calibri</vt:lpstr>
      <vt:lpstr>Aptos</vt:lpstr>
      <vt:lpstr>Heading Now 71-78</vt:lpstr>
      <vt:lpstr>Poppins</vt:lpstr>
      <vt:lpstr>Heading Now 71-78 Bold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Emotion in Music Using Audio Features</dc:title>
  <cp:lastModifiedBy>Yadav, Hrithik</cp:lastModifiedBy>
  <cp:revision>4</cp:revision>
  <dcterms:created xsi:type="dcterms:W3CDTF">2006-08-16T00:00:00Z</dcterms:created>
  <dcterms:modified xsi:type="dcterms:W3CDTF">2026-04-16T18:01:11Z</dcterms:modified>
  <dc:identifier>DAHG-mWR6No</dc:identifier>
</cp:coreProperties>
</file>